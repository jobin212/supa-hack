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50a190b0b754e35" /><Relationship Type="http://schemas.openxmlformats.org/officeDocument/2006/relationships/extended-properties" Target="/docProps/app.xml" Id="Rc6e517534e244ca5" /><Relationship Type="http://schemas.openxmlformats.org/officeDocument/2006/relationships/officeDocument" Target="/ppt/presentation.xml" Id="Rb4b1057d5486405d" /></Relationships>
</file>

<file path=ppt/presentation.xml><?xml version="1.0" encoding="utf-8"?>
<p:presentation xmlns:p="http://schemas.openxmlformats.org/presentationml/2006/main">
  <p:sldMasterIdLst>
    <p:sldMasterId xmlns:r="http://schemas.openxmlformats.org/officeDocument/2006/relationships" id="2147483648" r:id="Rd63de0d50da34bea"/>
  </p:sldMasterIdLst>
  <p:notesMasterIdLst>
    <p:notesMasterId xmlns:r="http://schemas.openxmlformats.org/officeDocument/2006/relationships" r:id="R58d2cb7b4bf94af3"/>
  </p:notesMasterIdLst>
  <p:sldIdLst>
    <p:sldId xmlns:r="http://schemas.openxmlformats.org/officeDocument/2006/relationships" id="256" r:id="R788451e0f23b4ee6"/>
    <p:sldId xmlns:r="http://schemas.openxmlformats.org/officeDocument/2006/relationships" id="257" r:id="R42656db80fdc48d4"/>
    <p:sldId xmlns:r="http://schemas.openxmlformats.org/officeDocument/2006/relationships" id="258" r:id="R6b4401a8b23f457a"/>
  </p:sldIdLst>
  <p:sldSz cx="7658100" cy="166497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a89ab45bc4435d" /><Relationship Type="http://schemas.openxmlformats.org/officeDocument/2006/relationships/slideMaster" Target="/ppt/slideMasters/slideMaster1.xml" Id="Rd63de0d50da34bea" /><Relationship Type="http://schemas.openxmlformats.org/officeDocument/2006/relationships/notesMaster" Target="/ppt/notesMasters/notesMaster1.xml" Id="R58d2cb7b4bf94af3" /><Relationship Type="http://schemas.openxmlformats.org/officeDocument/2006/relationships/presProps" Target="/ppt/presProps.xml" Id="R8297971af3e249ff" /><Relationship Type="http://schemas.openxmlformats.org/officeDocument/2006/relationships/tableStyles" Target="/ppt/tableStyles.xml" Id="Re2fb761ebe8441eb" /><Relationship Type="http://schemas.openxmlformats.org/officeDocument/2006/relationships/slide" Target="/ppt/slides/slide1.xml" Id="R788451e0f23b4ee6" /><Relationship Type="http://schemas.openxmlformats.org/officeDocument/2006/relationships/slide" Target="/ppt/slides/slide2.xml" Id="R42656db80fdc48d4" /><Relationship Type="http://schemas.openxmlformats.org/officeDocument/2006/relationships/slide" Target="/ppt/slides/slide3.xml" Id="R6b4401a8b23f457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79852fe7e949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756c7f233543f9" /><Relationship Type="http://schemas.openxmlformats.org/officeDocument/2006/relationships/notesMaster" Target="/ppt/notesMasters/notesMaster1.xml" Id="R1c258cdd2ea341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1f2093badf4099" /><Relationship Type="http://schemas.openxmlformats.org/officeDocument/2006/relationships/notesMaster" Target="/ppt/notesMasters/notesMaster1.xml" Id="Rc5f177184cf242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e1c369c44f44378" /><Relationship Type="http://schemas.openxmlformats.org/officeDocument/2006/relationships/notesMaster" Target="/ppt/notesMasters/notesMaster1.xml" Id="R618658b99f3a42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Songbot turns an Ando thread into a song. Current deployment uses Supabase Compute, Postgres, and Storage, with Gemini summarization and Lyria music generation. Sources: README.md, docs/architecture.md, src/threadsong/composer.py. Background artwork generated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data flow, not direct network connections between providers. The same Python worker in Supabase Compute fetches Ando context, calls Gemini, sends the resulting summary to Lyria, uploads the returned audio to private Supabase Storage, and posts a stable share URL to Ando. Supabase Postgres stores durable job checkpoints. All diagram text and connectors are native editable slide objects. Sources: src/threadsong/app.py, src/threadsong/worker.py, src/threadsong/composer.py, src/threadsong/storage.py.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slide. Mention the dedicated Songbot agent in an enabled Ando conversation to request a song. The phrase shown is an example request. Background artwork generated for this deck and reused as a consistent background.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f6a360b3104a0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147f2510754023" /><Relationship Type="http://schemas.openxmlformats.org/officeDocument/2006/relationships/slideLayout" Target="/ppt/slideLayouts/slideLayout1.xml" Id="Rd434d176f0f6401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34d176f0f6401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ae97f8071ff44bf" /><Relationship Type="http://schemas.openxmlformats.org/officeDocument/2006/relationships/image" Target="/ppt/media/image.png" Id="Rd76b1817d8fd4a26" /><Relationship Type="http://schemas.openxmlformats.org/officeDocument/2006/relationships/notesSlide" Target="/ppt/notesSlides/notesSlide1.xml" Id="R7c6053b781034c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aded03dd08d4279" /><Relationship Type="http://schemas.openxmlformats.org/officeDocument/2006/relationships/notesSlide" Target="/ppt/notesSlides/notesSlide2.xml" Id="R563413fa838a44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4dc8f4258ec44e1" /><Relationship Type="http://schemas.openxmlformats.org/officeDocument/2006/relationships/image" Target="/ppt/media/image2.png" Id="R0342ab212bce47e4" /><Relationship Type="http://schemas.openxmlformats.org/officeDocument/2006/relationships/notesSlide" Target="/ppt/notesSlides/notesSlide3.xml" Id="Rce02db4f9ed447df" /></Relationships>
</file>

<file path=ppt/slides/slide1.xml><?xml version="1.0" encoding="utf-8"?>
<p:sld xmlns:p="http://schemas.openxmlformats.org/presentationml/2006/main">
  <p:cSld>
    <p:bg>
      <p:bgPr>
        <a:solidFill xmlns:a="http://schemas.openxmlformats.org/drawingml/2006/main">
          <a:srgbClr val="060C15"/>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76b1817d8fd4a26"/>
          <a:srcRect xmlns:a="http://schemas.openxmlformats.org/drawingml/2006/main" l="172" t="0" r="172" b="0"/>
          <a:stretch xmlns:a="http://schemas.openxmlformats.org/drawingml/2006/main">
            <a:fillRect l="0" t="0" r="0" b="0"/>
          </a:stretch>
        </p:blipFill>
        <p:spPr>
          <a:xfrm xmlns:a="http://schemas.openxmlformats.org/drawingml/2006/main">
            <a:off x="0" y="0"/>
            <a:ext cx="7658100" cy="16649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34A2EA1-1DE0-415C-817D-3E6E2CDCB4CF}"/>
              </a:ext>
            </a:extLst>
          </p:cNvPr>
          <p:cNvSpPr>
            <a:spLocks xmlns:a="http://schemas.openxmlformats.org/drawingml/2006/main" noGrp="1"/>
          </p:cNvSpPr>
          <p:nvPr/>
        </p:nvSpPr>
        <p:spPr>
          <a:xfrm xmlns:a="http://schemas.openxmlformats.org/drawingml/2006/main">
            <a:off x="571500" y="1428750"/>
            <a:ext cx="666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400" b="1">
                <a:solidFill>
                  <a:srgbClr val="F1F6F4"/>
                </a:solidFill>
                <a:latin typeface="Helvetica Neue"/>
                <a:ea typeface="Helvetica Neue"/>
                <a:cs typeface="Helvetica Neue"/>
              </a:defRPr>
            </a:pPr>
            <a:r>
              <a:rPr sz="8400" b="1">
                <a:solidFill>
                  <a:srgbClr val="F1F6F4"/>
                </a:solidFill>
                <a:latin typeface="Helvetica Neue"/>
                <a:ea typeface="Helvetica Neue"/>
                <a:cs typeface="Helvetica Neue"/>
              </a:rPr>
              <a:t>Songbot</a:t>
            </a:r>
          </a:p>
        </p:txBody>
      </p:sp>
      <p:sp>
        <p:nvSpPr>
          <p:cNvPr id="3" name="">
            <a:extLst xmlns:a="http://schemas.openxmlformats.org/drawingml/2006/main">
              <a:ext uri="{FF2B5EF4-FFF2-40B4-BE49-F238E27FC236}">
                <a16:creationId xmlns:a16="http://schemas.microsoft.com/office/drawing/2014/main" id="{62524E73-8B5B-4356-9046-2DEF5766AEF1}"/>
              </a:ext>
            </a:extLst>
          </p:cNvPr>
          <p:cNvSpPr>
            <a:spLocks xmlns:a="http://schemas.openxmlformats.org/drawingml/2006/main" noGrp="1"/>
          </p:cNvSpPr>
          <p:nvPr/>
        </p:nvSpPr>
        <p:spPr>
          <a:xfrm xmlns:a="http://schemas.openxmlformats.org/drawingml/2006/main">
            <a:off x="609600" y="3028950"/>
            <a:ext cx="642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600" b="0">
                <a:solidFill>
                  <a:srgbClr val="F1F6F4"/>
                </a:solidFill>
                <a:latin typeface="Helvetica Neue"/>
                <a:ea typeface="Helvetica Neue"/>
                <a:cs typeface="Helvetica Neue"/>
              </a:defRPr>
            </a:pPr>
            <a:r>
              <a:rPr sz="3600" b="0">
                <a:solidFill>
                  <a:srgbClr val="F1F6F4"/>
                </a:solidFill>
                <a:latin typeface="Helvetica Neue"/>
                <a:ea typeface="Helvetica Neue"/>
                <a:cs typeface="Helvetica Neue"/>
              </a:rPr>
              <a:t>Songs from your</a:t>
            </a:r>
          </a:p>
          <a:p xmlns:a="http://schemas.openxmlformats.org/drawingml/2006/main">
            <a:pPr algn="l">
              <a:defRPr sz="3600" b="0">
                <a:solidFill>
                  <a:srgbClr val="F1F6F4"/>
                </a:solidFill>
                <a:latin typeface="Helvetica Neue"/>
                <a:ea typeface="Helvetica Neue"/>
                <a:cs typeface="Helvetica Neue"/>
              </a:defRPr>
            </a:pPr>
            <a:r>
              <a:rPr sz="3600" b="0">
                <a:solidFill>
                  <a:srgbClr val="F1F6F4"/>
                </a:solidFill>
                <a:latin typeface="Helvetica Neue"/>
                <a:ea typeface="Helvetica Neue"/>
                <a:cs typeface="Helvetica Neue"/>
              </a:rPr>
              <a:t>team’s threads.</a:t>
            </a:r>
          </a:p>
        </p:txBody>
      </p:sp>
      <p:sp>
        <p:nvSpPr>
          <p:cNvPr id="4" name="">
            <a:extLst xmlns:a="http://schemas.openxmlformats.org/drawingml/2006/main">
              <a:ext uri="{FF2B5EF4-FFF2-40B4-BE49-F238E27FC236}">
                <a16:creationId xmlns:a16="http://schemas.microsoft.com/office/drawing/2014/main" id="{F4B0E171-C925-4EA5-A90E-CF7A04351E42}"/>
              </a:ext>
            </a:extLst>
          </p:cNvPr>
          <p:cNvSpPr>
            <a:spLocks xmlns:a="http://schemas.openxmlformats.org/drawingml/2006/main" noGrp="1"/>
          </p:cNvSpPr>
          <p:nvPr/>
        </p:nvSpPr>
        <p:spPr>
          <a:xfrm xmlns:a="http://schemas.openxmlformats.org/drawingml/2006/main">
            <a:off x="609600" y="141922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A7BCB6"/>
                </a:solidFill>
                <a:latin typeface="Helvetica Neue"/>
                <a:ea typeface="Helvetica Neue"/>
                <a:cs typeface="Helvetica Neue"/>
              </a:defRPr>
            </a:pPr>
            <a:r>
              <a:rPr sz="2250" b="0">
                <a:solidFill>
                  <a:srgbClr val="A7BCB6"/>
                </a:solidFill>
                <a:latin typeface="Helvetica Neue"/>
                <a:ea typeface="Helvetica Neue"/>
                <a:cs typeface="Helvetica Neue"/>
              </a:rPr>
              <a:t>Built on Supabase</a:t>
            </a:r>
          </a:p>
        </p:txBody>
      </p:sp>
      <p:sp>
        <p:nvSpPr>
          <p:cNvPr id="5" name="">
            <a:extLst xmlns:a="http://schemas.openxmlformats.org/drawingml/2006/main">
              <a:ext uri="{FF2B5EF4-FFF2-40B4-BE49-F238E27FC236}">
                <a16:creationId xmlns:a16="http://schemas.microsoft.com/office/drawing/2014/main" id="{9F54B748-658E-456F-807C-5AC7851B49EC}"/>
              </a:ext>
            </a:extLst>
          </p:cNvPr>
          <p:cNvSpPr>
            <a:spLocks xmlns:a="http://schemas.openxmlformats.org/drawingml/2006/main" noGrp="1"/>
          </p:cNvSpPr>
          <p:nvPr/>
        </p:nvSpPr>
        <p:spPr>
          <a:xfrm xmlns:a="http://schemas.openxmlformats.org/drawingml/2006/main">
            <a:off x="609600" y="1466850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A7BCB6"/>
                </a:solidFill>
                <a:latin typeface="Helvetica Neue"/>
                <a:ea typeface="Helvetica Neue"/>
                <a:cs typeface="Helvetica Neue"/>
              </a:defRPr>
            </a:pPr>
            <a:r>
              <a:rPr sz="2250" b="0">
                <a:solidFill>
                  <a:srgbClr val="A7BCB6"/>
                </a:solidFill>
                <a:latin typeface="Helvetica Neue"/>
                <a:ea typeface="Helvetica Neue"/>
                <a:cs typeface="Helvetica Neue"/>
              </a:rPr>
              <a:t>Music by Google Lyria</a:t>
            </a:r>
          </a:p>
        </p:txBody>
      </p:sp>
    </p:spTree>
    <p:extLst>
      <p:ext uri="{BB962C8B-B14F-4D97-AF65-F5344CB8AC3E}">
        <p14:creationId xmlns:p14="http://schemas.microsoft.com/office/powerpoint/2010/main" val="2021371507"/>
      </p:ext>
    </p:extLst>
  </p:cSld>
</p:sld>
</file>

<file path=ppt/slides/slide2.xml><?xml version="1.0" encoding="utf-8"?>
<p:sld xmlns:p="http://schemas.openxmlformats.org/presentationml/2006/main">
  <p:cSld>
    <p:bg>
      <p:bgPr>
        <a:solidFill xmlns:a="http://schemas.openxmlformats.org/drawingml/2006/main">
          <a:srgbClr val="060C1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C3254D6D-3C74-46A2-9566-43D110A60061}"/>
              </a:ext>
            </a:extLst>
          </p:cNvPr>
          <p:cNvSpPr>
            <a:spLocks xmlns:a="http://schemas.openxmlformats.org/drawingml/2006/main" noGrp="1"/>
          </p:cNvSpPr>
          <p:nvPr/>
        </p:nvSpPr>
        <p:spPr>
          <a:xfrm xmlns:a="http://schemas.openxmlformats.org/drawingml/2006/main">
            <a:off x="609600" y="857250"/>
            <a:ext cx="6438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81F3CA"/>
                </a:solidFill>
                <a:latin typeface="Helvetica Neue"/>
                <a:ea typeface="Helvetica Neue"/>
                <a:cs typeface="Helvetica Neue"/>
              </a:defRPr>
            </a:pPr>
            <a:r>
              <a:rPr sz="2250" b="1">
                <a:solidFill>
                  <a:srgbClr val="81F3CA"/>
                </a:solidFill>
                <a:latin typeface="Helvetica Neue"/>
                <a:ea typeface="Helvetica Neue"/>
                <a:cs typeface="Helvetica Neue"/>
              </a:rPr>
              <a:t>Songbot</a:t>
            </a:r>
          </a:p>
        </p:txBody>
      </p:sp>
      <p:sp>
        <p:nvSpPr>
          <p:cNvPr id="2" name="">
            <a:extLst xmlns:a="http://schemas.openxmlformats.org/drawingml/2006/main">
              <a:ext uri="{FF2B5EF4-FFF2-40B4-BE49-F238E27FC236}">
                <a16:creationId xmlns:a16="http://schemas.microsoft.com/office/drawing/2014/main" id="{750E8D2B-1D72-4CB9-A540-3EC40D0EDCB8}"/>
              </a:ext>
            </a:extLst>
          </p:cNvPr>
          <p:cNvSpPr>
            <a:spLocks xmlns:a="http://schemas.openxmlformats.org/drawingml/2006/main" noGrp="1"/>
          </p:cNvSpPr>
          <p:nvPr/>
        </p:nvSpPr>
        <p:spPr>
          <a:xfrm xmlns:a="http://schemas.openxmlformats.org/drawingml/2006/main">
            <a:off x="609600" y="1562100"/>
            <a:ext cx="64389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F1F6F4"/>
                </a:solidFill>
                <a:latin typeface="Helvetica Neue"/>
                <a:ea typeface="Helvetica Neue"/>
                <a:cs typeface="Helvetica Neue"/>
              </a:defRPr>
            </a:pPr>
            <a:r>
              <a:rPr sz="4575" b="1">
                <a:solidFill>
                  <a:srgbClr val="F1F6F4"/>
                </a:solidFill>
                <a:latin typeface="Helvetica Neue"/>
                <a:ea typeface="Helvetica Neue"/>
                <a:cs typeface="Helvetica Neue"/>
              </a:rPr>
              <a:t>How the data flows</a:t>
            </a:r>
          </a:p>
        </p:txBody>
      </p:sp>
      <p:sp>
        <p:nvSpPr>
          <p:cNvPr id="3" name="">
            <a:extLst xmlns:a="http://schemas.openxmlformats.org/drawingml/2006/main">
              <a:ext uri="{FF2B5EF4-FFF2-40B4-BE49-F238E27FC236}">
                <a16:creationId xmlns:a16="http://schemas.microsoft.com/office/drawing/2014/main" id="{3CD5A82A-A564-49A0-83C3-74DA5B55C30F}"/>
              </a:ext>
            </a:extLst>
          </p:cNvPr>
          <p:cNvSpPr>
            <a:spLocks xmlns:a="http://schemas.openxmlformats.org/drawingml/2006/main" noGrp="1"/>
          </p:cNvSpPr>
          <p:nvPr/>
        </p:nvSpPr>
        <p:spPr>
          <a:xfrm xmlns:a="http://schemas.openxmlformats.org/drawingml/2006/main">
            <a:off x="609600" y="2952750"/>
            <a:ext cx="6438900" cy="1390650"/>
          </a:xfrm>
          <a:prstGeom xmlns:a="http://schemas.openxmlformats.org/drawingml/2006/main" prst="rect">
            <a:avLst/>
          </a:prstGeom>
          <a:noFill xmlns:a="http://schemas.openxmlformats.org/drawingml/2006/main"/>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D6A135-43CB-4E5E-9654-961C257E732D}"/>
              </a:ext>
            </a:extLst>
          </p:cNvPr>
          <p:cNvSpPr>
            <a:spLocks xmlns:a="http://schemas.openxmlformats.org/drawingml/2006/main" noGrp="1"/>
          </p:cNvSpPr>
          <p:nvPr/>
        </p:nvSpPr>
        <p:spPr>
          <a:xfrm xmlns:a="http://schemas.openxmlformats.org/drawingml/2006/main">
            <a:off x="609600" y="3086100"/>
            <a:ext cx="643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F1F6F4"/>
                </a:solidFill>
                <a:latin typeface="Helvetica Neue"/>
                <a:ea typeface="Helvetica Neue"/>
                <a:cs typeface="Helvetica Neue"/>
              </a:defRPr>
            </a:pPr>
            <a:r>
              <a:rPr sz="3450" b="1">
                <a:solidFill>
                  <a:srgbClr val="F1F6F4"/>
                </a:solidFill>
                <a:latin typeface="Helvetica Neue"/>
                <a:ea typeface="Helvetica Neue"/>
                <a:cs typeface="Helvetica Neue"/>
              </a:rPr>
              <a:t>Ando thread</a:t>
            </a:r>
          </a:p>
        </p:txBody>
      </p:sp>
      <p:sp>
        <p:nvSpPr>
          <p:cNvPr id="5" name="">
            <a:extLst xmlns:a="http://schemas.openxmlformats.org/drawingml/2006/main">
              <a:ext uri="{FF2B5EF4-FFF2-40B4-BE49-F238E27FC236}">
                <a16:creationId xmlns:a16="http://schemas.microsoft.com/office/drawing/2014/main" id="{19FE18B8-A26F-4470-9555-3CBFA223C853}"/>
              </a:ext>
            </a:extLst>
          </p:cNvPr>
          <p:cNvSpPr>
            <a:spLocks xmlns:a="http://schemas.openxmlformats.org/drawingml/2006/main" noGrp="1"/>
          </p:cNvSpPr>
          <p:nvPr/>
        </p:nvSpPr>
        <p:spPr>
          <a:xfrm xmlns:a="http://schemas.openxmlformats.org/drawingml/2006/main">
            <a:off x="609600" y="3752850"/>
            <a:ext cx="643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0">
                <a:solidFill>
                  <a:srgbClr val="A7BCB6"/>
                </a:solidFill>
                <a:latin typeface="Helvetica Neue"/>
                <a:ea typeface="Helvetica Neue"/>
                <a:cs typeface="Helvetica Neue"/>
              </a:defRPr>
            </a:pPr>
            <a:r>
              <a:rPr sz="2325" b="0">
                <a:solidFill>
                  <a:srgbClr val="A7BCB6"/>
                </a:solidFill>
                <a:latin typeface="Helvetica Neue"/>
                <a:ea typeface="Helvetica Neue"/>
                <a:cs typeface="Helvetica Neue"/>
              </a:rPr>
              <a:t>Mention + conversation</a:t>
            </a:r>
          </a:p>
        </p:txBody>
      </p:sp>
      <p:sp>
        <p:nvSpPr>
          <p:cNvPr id="6" name="">
            <a:extLst xmlns:a="http://schemas.openxmlformats.org/drawingml/2006/main">
              <a:ext uri="{FF2B5EF4-FFF2-40B4-BE49-F238E27FC236}">
                <a16:creationId xmlns:a16="http://schemas.microsoft.com/office/drawing/2014/main" id="{5167D4D8-8C64-452C-845C-F68FCB1DABBD}"/>
              </a:ext>
            </a:extLst>
          </p:cNvPr>
          <p:cNvSpPr>
            <a:spLocks xmlns:a="http://schemas.openxmlformats.org/drawingml/2006/main" noGrp="1"/>
          </p:cNvSpPr>
          <p:nvPr/>
        </p:nvSpPr>
        <p:spPr>
          <a:xfrm xmlns:a="http://schemas.openxmlformats.org/drawingml/2006/main">
            <a:off x="609600" y="4991100"/>
            <a:ext cx="6438900" cy="1390650"/>
          </a:xfrm>
          <a:prstGeom xmlns:a="http://schemas.openxmlformats.org/drawingml/2006/main" prst="rect">
            <a:avLst/>
          </a:prstGeom>
          <a:noFill xmlns:a="http://schemas.openxmlformats.org/drawingml/2006/main"/>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8C30C2E-961C-4604-9EE3-49DBA63C387A}"/>
              </a:ext>
            </a:extLst>
          </p:cNvPr>
          <p:cNvSpPr>
            <a:spLocks xmlns:a="http://schemas.openxmlformats.org/drawingml/2006/main" noGrp="1"/>
          </p:cNvSpPr>
          <p:nvPr/>
        </p:nvSpPr>
        <p:spPr>
          <a:xfrm xmlns:a="http://schemas.openxmlformats.org/drawingml/2006/main">
            <a:off x="609600" y="5124450"/>
            <a:ext cx="643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F1F6F4"/>
                </a:solidFill>
                <a:latin typeface="Helvetica Neue"/>
                <a:ea typeface="Helvetica Neue"/>
                <a:cs typeface="Helvetica Neue"/>
              </a:defRPr>
            </a:pPr>
            <a:r>
              <a:rPr sz="3450" b="1">
                <a:solidFill>
                  <a:srgbClr val="F1F6F4"/>
                </a:solidFill>
                <a:latin typeface="Helvetica Neue"/>
                <a:ea typeface="Helvetica Neue"/>
                <a:cs typeface="Helvetica Neue"/>
              </a:rPr>
              <a:t>Gemini</a:t>
            </a:r>
          </a:p>
        </p:txBody>
      </p:sp>
      <p:sp>
        <p:nvSpPr>
          <p:cNvPr id="8" name="">
            <a:extLst xmlns:a="http://schemas.openxmlformats.org/drawingml/2006/main">
              <a:ext uri="{FF2B5EF4-FFF2-40B4-BE49-F238E27FC236}">
                <a16:creationId xmlns:a16="http://schemas.microsoft.com/office/drawing/2014/main" id="{8A82A48C-B870-41D9-8E8F-FB574576020D}"/>
              </a:ext>
            </a:extLst>
          </p:cNvPr>
          <p:cNvSpPr>
            <a:spLocks xmlns:a="http://schemas.openxmlformats.org/drawingml/2006/main" noGrp="1"/>
          </p:cNvSpPr>
          <p:nvPr/>
        </p:nvSpPr>
        <p:spPr>
          <a:xfrm xmlns:a="http://schemas.openxmlformats.org/drawingml/2006/main">
            <a:off x="609600" y="5791200"/>
            <a:ext cx="643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0">
                <a:solidFill>
                  <a:srgbClr val="81F3CA"/>
                </a:solidFill>
                <a:latin typeface="Helvetica Neue"/>
                <a:ea typeface="Helvetica Neue"/>
                <a:cs typeface="Helvetica Neue"/>
              </a:defRPr>
            </a:pPr>
            <a:r>
              <a:rPr sz="2325" b="0">
                <a:solidFill>
                  <a:srgbClr val="81F3CA"/>
                </a:solidFill>
                <a:latin typeface="Helvetica Neue"/>
                <a:ea typeface="Helvetica Neue"/>
                <a:cs typeface="Helvetica Neue"/>
              </a:rPr>
              <a:t>Short summary of the thread</a:t>
            </a:r>
          </a:p>
        </p:txBody>
      </p:sp>
      <p:cxnSp>
        <p:nvCxnSpPr>
          <p:cNvPr id="31" name=""/>
          <p:cNvCxnSpPr>
            <a:stCxn xmlns:a="http://schemas.openxmlformats.org/drawingml/2006/main" id="3" idx="2"/>
            <a:endCxn xmlns:a="http://schemas.openxmlformats.org/drawingml/2006/main" id="6" idx="0"/>
          </p:cNvCxnSpPr>
          <p:nvPr/>
        </p:nvCxnSpPr>
        <p:spPr>
          <a:xfrm xmlns:a="http://schemas.openxmlformats.org/drawingml/2006/main">
            <a:off x="3829050" y="4343400"/>
            <a:ext cx="0" cy="647700"/>
          </a:xfrm>
          <a:prstGeom xmlns:a="http://schemas.openxmlformats.org/drawingml/2006/main" prst="straightConnector1">
            <a:avLst/>
          </a:prstGeom>
          <a:ln xmlns:a="http://schemas.openxmlformats.org/drawingml/2006/main" w="19050">
            <a:solidFill>
              <a:srgbClr val="497469"/>
            </a:solidFill>
            <a:tailEnd type="arrow" w="med" len="med"/>
          </a:ln>
        </p:spPr>
      </p:cxnSp>
      <p:sp>
        <p:nvSpPr>
          <p:cNvPr id="10" name="">
            <a:extLst xmlns:a="http://schemas.openxmlformats.org/drawingml/2006/main">
              <a:ext uri="{FF2B5EF4-FFF2-40B4-BE49-F238E27FC236}">
                <a16:creationId xmlns:a16="http://schemas.microsoft.com/office/drawing/2014/main" id="{1BF6ADB9-198F-4988-85F3-5C700D775E72}"/>
              </a:ext>
            </a:extLst>
          </p:cNvPr>
          <p:cNvSpPr>
            <a:spLocks xmlns:a="http://schemas.openxmlformats.org/drawingml/2006/main" noGrp="1"/>
          </p:cNvSpPr>
          <p:nvPr/>
        </p:nvSpPr>
        <p:spPr>
          <a:xfrm xmlns:a="http://schemas.openxmlformats.org/drawingml/2006/main">
            <a:off x="609600" y="7029450"/>
            <a:ext cx="6438900" cy="1390650"/>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821D065-9706-488F-8821-854E1D7071A8}"/>
              </a:ext>
            </a:extLst>
          </p:cNvPr>
          <p:cNvSpPr>
            <a:spLocks xmlns:a="http://schemas.openxmlformats.org/drawingml/2006/main" noGrp="1"/>
          </p:cNvSpPr>
          <p:nvPr/>
        </p:nvSpPr>
        <p:spPr>
          <a:xfrm xmlns:a="http://schemas.openxmlformats.org/drawingml/2006/main">
            <a:off x="609600" y="7162800"/>
            <a:ext cx="643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F1F6F4"/>
                </a:solidFill>
                <a:latin typeface="Helvetica Neue"/>
                <a:ea typeface="Helvetica Neue"/>
                <a:cs typeface="Helvetica Neue"/>
              </a:defRPr>
            </a:pPr>
            <a:r>
              <a:rPr sz="3450" b="1">
                <a:solidFill>
                  <a:srgbClr val="F1F6F4"/>
                </a:solidFill>
                <a:latin typeface="Helvetica Neue"/>
                <a:ea typeface="Helvetica Neue"/>
                <a:cs typeface="Helvetica Neue"/>
              </a:rPr>
              <a:t>Lyria</a:t>
            </a:r>
          </a:p>
        </p:txBody>
      </p:sp>
      <p:sp>
        <p:nvSpPr>
          <p:cNvPr id="12" name="">
            <a:extLst xmlns:a="http://schemas.openxmlformats.org/drawingml/2006/main">
              <a:ext uri="{FF2B5EF4-FFF2-40B4-BE49-F238E27FC236}">
                <a16:creationId xmlns:a16="http://schemas.microsoft.com/office/drawing/2014/main" id="{63B46758-AFD8-4648-89A8-D340C89304AC}"/>
              </a:ext>
            </a:extLst>
          </p:cNvPr>
          <p:cNvSpPr>
            <a:spLocks xmlns:a="http://schemas.openxmlformats.org/drawingml/2006/main" noGrp="1"/>
          </p:cNvSpPr>
          <p:nvPr/>
        </p:nvSpPr>
        <p:spPr>
          <a:xfrm xmlns:a="http://schemas.openxmlformats.org/drawingml/2006/main">
            <a:off x="609600" y="7829550"/>
            <a:ext cx="643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0">
                <a:solidFill>
                  <a:srgbClr val="81F3CA"/>
                </a:solidFill>
                <a:latin typeface="Helvetica Neue"/>
                <a:ea typeface="Helvetica Neue"/>
                <a:cs typeface="Helvetica Neue"/>
              </a:defRPr>
            </a:pPr>
            <a:r>
              <a:rPr sz="2325" b="0">
                <a:solidFill>
                  <a:srgbClr val="81F3CA"/>
                </a:solidFill>
                <a:latin typeface="Helvetica Neue"/>
                <a:ea typeface="Helvetica Neue"/>
                <a:cs typeface="Helvetica Neue"/>
              </a:rPr>
              <a:t>Original lyrics + music</a:t>
            </a:r>
          </a:p>
        </p:txBody>
      </p:sp>
      <p:cxnSp>
        <p:nvCxnSpPr>
          <p:cNvPr id="35" name=""/>
          <p:cNvCxnSpPr>
            <a:stCxn xmlns:a="http://schemas.openxmlformats.org/drawingml/2006/main" id="6" idx="2"/>
            <a:endCxn xmlns:a="http://schemas.openxmlformats.org/drawingml/2006/main" id="10" idx="0"/>
          </p:cNvCxnSpPr>
          <p:nvPr/>
        </p:nvCxnSpPr>
        <p:spPr>
          <a:xfrm xmlns:a="http://schemas.openxmlformats.org/drawingml/2006/main">
            <a:off x="3829050" y="6381750"/>
            <a:ext cx="0" cy="647700"/>
          </a:xfrm>
          <a:prstGeom xmlns:a="http://schemas.openxmlformats.org/drawingml/2006/main" prst="straightConnector1">
            <a:avLst/>
          </a:prstGeom>
          <a:ln xmlns:a="http://schemas.openxmlformats.org/drawingml/2006/main" w="19050">
            <a:solidFill>
              <a:srgbClr val="497469"/>
            </a:solidFill>
            <a:tailEnd type="arrow" w="med" len="med"/>
          </a:ln>
        </p:spPr>
      </p:cxnSp>
      <p:sp>
        <p:nvSpPr>
          <p:cNvPr id="14" name="">
            <a:extLst xmlns:a="http://schemas.openxmlformats.org/drawingml/2006/main">
              <a:ext uri="{FF2B5EF4-FFF2-40B4-BE49-F238E27FC236}">
                <a16:creationId xmlns:a16="http://schemas.microsoft.com/office/drawing/2014/main" id="{256123C6-B47D-41CA-97D5-F6E3F41B0BB5}"/>
              </a:ext>
            </a:extLst>
          </p:cNvPr>
          <p:cNvSpPr>
            <a:spLocks xmlns:a="http://schemas.openxmlformats.org/drawingml/2006/main" noGrp="1"/>
          </p:cNvSpPr>
          <p:nvPr/>
        </p:nvSpPr>
        <p:spPr>
          <a:xfrm xmlns:a="http://schemas.openxmlformats.org/drawingml/2006/main">
            <a:off x="609600" y="9067800"/>
            <a:ext cx="6438900" cy="1390650"/>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1A91106-6058-44F9-8F60-1E57C7E3DA9F}"/>
              </a:ext>
            </a:extLst>
          </p:cNvPr>
          <p:cNvSpPr>
            <a:spLocks xmlns:a="http://schemas.openxmlformats.org/drawingml/2006/main" noGrp="1"/>
          </p:cNvSpPr>
          <p:nvPr/>
        </p:nvSpPr>
        <p:spPr>
          <a:xfrm xmlns:a="http://schemas.openxmlformats.org/drawingml/2006/main">
            <a:off x="609600" y="9201150"/>
            <a:ext cx="643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F1F6F4"/>
                </a:solidFill>
                <a:latin typeface="Helvetica Neue"/>
                <a:ea typeface="Helvetica Neue"/>
                <a:cs typeface="Helvetica Neue"/>
              </a:defRPr>
            </a:pPr>
            <a:r>
              <a:rPr sz="3450" b="1">
                <a:solidFill>
                  <a:srgbClr val="F1F6F4"/>
                </a:solidFill>
                <a:latin typeface="Helvetica Neue"/>
                <a:ea typeface="Helvetica Neue"/>
                <a:cs typeface="Helvetica Neue"/>
              </a:rPr>
              <a:t>Supabase Storage</a:t>
            </a:r>
          </a:p>
        </p:txBody>
      </p:sp>
      <p:sp>
        <p:nvSpPr>
          <p:cNvPr id="16" name="">
            <a:extLst xmlns:a="http://schemas.openxmlformats.org/drawingml/2006/main">
              <a:ext uri="{FF2B5EF4-FFF2-40B4-BE49-F238E27FC236}">
                <a16:creationId xmlns:a16="http://schemas.microsoft.com/office/drawing/2014/main" id="{1364E9FF-F7BC-4028-BEDD-96B805DE9F63}"/>
              </a:ext>
            </a:extLst>
          </p:cNvPr>
          <p:cNvSpPr>
            <a:spLocks xmlns:a="http://schemas.openxmlformats.org/drawingml/2006/main" noGrp="1"/>
          </p:cNvSpPr>
          <p:nvPr/>
        </p:nvSpPr>
        <p:spPr>
          <a:xfrm xmlns:a="http://schemas.openxmlformats.org/drawingml/2006/main">
            <a:off x="609600" y="9867900"/>
            <a:ext cx="643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0">
                <a:solidFill>
                  <a:srgbClr val="A7BCB6"/>
                </a:solidFill>
                <a:latin typeface="Helvetica Neue"/>
                <a:ea typeface="Helvetica Neue"/>
                <a:cs typeface="Helvetica Neue"/>
              </a:defRPr>
            </a:pPr>
            <a:r>
              <a:rPr sz="2325" b="0">
                <a:solidFill>
                  <a:srgbClr val="A7BCB6"/>
                </a:solidFill>
                <a:latin typeface="Helvetica Neue"/>
                <a:ea typeface="Helvetica Neue"/>
                <a:cs typeface="Helvetica Neue"/>
              </a:rPr>
              <a:t>MP3 file</a:t>
            </a:r>
          </a:p>
        </p:txBody>
      </p:sp>
      <p:cxnSp>
        <p:nvCxnSpPr>
          <p:cNvPr id="39" name=""/>
          <p:cNvCxnSpPr>
            <a:stCxn xmlns:a="http://schemas.openxmlformats.org/drawingml/2006/main" id="10" idx="2"/>
            <a:endCxn xmlns:a="http://schemas.openxmlformats.org/drawingml/2006/main" id="14" idx="0"/>
          </p:cNvCxnSpPr>
          <p:nvPr/>
        </p:nvCxnSpPr>
        <p:spPr>
          <a:xfrm xmlns:a="http://schemas.openxmlformats.org/drawingml/2006/main">
            <a:off x="3829050" y="8420100"/>
            <a:ext cx="0" cy="647700"/>
          </a:xfrm>
          <a:prstGeom xmlns:a="http://schemas.openxmlformats.org/drawingml/2006/main" prst="straightConnector1">
            <a:avLst/>
          </a:prstGeom>
          <a:ln xmlns:a="http://schemas.openxmlformats.org/drawingml/2006/main" w="19050">
            <a:solidFill>
              <a:srgbClr val="497469"/>
            </a:solidFill>
            <a:tailEnd type="arrow" w="med" len="med"/>
          </a:ln>
        </p:spPr>
      </p:cxnSp>
      <p:sp>
        <p:nvSpPr>
          <p:cNvPr id="18" name="">
            <a:extLst xmlns:a="http://schemas.openxmlformats.org/drawingml/2006/main">
              <a:ext uri="{FF2B5EF4-FFF2-40B4-BE49-F238E27FC236}">
                <a16:creationId xmlns:a16="http://schemas.microsoft.com/office/drawing/2014/main" id="{4403E546-CA53-40E8-B5C0-B1CC0F923649}"/>
              </a:ext>
            </a:extLst>
          </p:cNvPr>
          <p:cNvSpPr>
            <a:spLocks xmlns:a="http://schemas.openxmlformats.org/drawingml/2006/main" noGrp="1"/>
          </p:cNvSpPr>
          <p:nvPr/>
        </p:nvSpPr>
        <p:spPr>
          <a:xfrm xmlns:a="http://schemas.openxmlformats.org/drawingml/2006/main">
            <a:off x="609600" y="11106150"/>
            <a:ext cx="6438900" cy="1390650"/>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AB85FDA-2F94-4938-B70C-33E5DEEAB46E}"/>
              </a:ext>
            </a:extLst>
          </p:cNvPr>
          <p:cNvSpPr>
            <a:spLocks xmlns:a="http://schemas.openxmlformats.org/drawingml/2006/main" noGrp="1"/>
          </p:cNvSpPr>
          <p:nvPr/>
        </p:nvSpPr>
        <p:spPr>
          <a:xfrm xmlns:a="http://schemas.openxmlformats.org/drawingml/2006/main">
            <a:off x="609600" y="11239500"/>
            <a:ext cx="6438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3450" b="1">
                <a:solidFill>
                  <a:srgbClr val="F1F6F4"/>
                </a:solidFill>
                <a:latin typeface="Helvetica Neue"/>
                <a:ea typeface="Helvetica Neue"/>
                <a:cs typeface="Helvetica Neue"/>
              </a:defRPr>
            </a:pPr>
            <a:r>
              <a:rPr sz="3450" b="1">
                <a:solidFill>
                  <a:srgbClr val="F1F6F4"/>
                </a:solidFill>
                <a:latin typeface="Helvetica Neue"/>
                <a:ea typeface="Helvetica Neue"/>
                <a:cs typeface="Helvetica Neue"/>
              </a:rPr>
              <a:t>Ando reply</a:t>
            </a:r>
          </a:p>
        </p:txBody>
      </p:sp>
      <p:sp>
        <p:nvSpPr>
          <p:cNvPr id="20" name="">
            <a:extLst xmlns:a="http://schemas.openxmlformats.org/drawingml/2006/main">
              <a:ext uri="{FF2B5EF4-FFF2-40B4-BE49-F238E27FC236}">
                <a16:creationId xmlns:a16="http://schemas.microsoft.com/office/drawing/2014/main" id="{A81C523F-3F3E-4BDD-A895-BAD18D9FF5DD}"/>
              </a:ext>
            </a:extLst>
          </p:cNvPr>
          <p:cNvSpPr>
            <a:spLocks xmlns:a="http://schemas.openxmlformats.org/drawingml/2006/main" noGrp="1"/>
          </p:cNvSpPr>
          <p:nvPr/>
        </p:nvSpPr>
        <p:spPr>
          <a:xfrm xmlns:a="http://schemas.openxmlformats.org/drawingml/2006/main">
            <a:off x="609600" y="11906250"/>
            <a:ext cx="64389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325" b="0">
                <a:solidFill>
                  <a:srgbClr val="A7BCB6"/>
                </a:solidFill>
                <a:latin typeface="Helvetica Neue"/>
                <a:ea typeface="Helvetica Neue"/>
                <a:cs typeface="Helvetica Neue"/>
              </a:defRPr>
            </a:pPr>
            <a:r>
              <a:rPr sz="2325" b="0">
                <a:solidFill>
                  <a:srgbClr val="A7BCB6"/>
                </a:solidFill>
                <a:latin typeface="Helvetica Neue"/>
                <a:ea typeface="Helvetica Neue"/>
                <a:cs typeface="Helvetica Neue"/>
              </a:rPr>
              <a:t>Song link to listen and share</a:t>
            </a:r>
          </a:p>
        </p:txBody>
      </p:sp>
      <p:cxnSp>
        <p:nvCxnSpPr>
          <p:cNvPr id="43" name=""/>
          <p:cNvCxnSpPr>
            <a:stCxn xmlns:a="http://schemas.openxmlformats.org/drawingml/2006/main" id="14" idx="2"/>
            <a:endCxn xmlns:a="http://schemas.openxmlformats.org/drawingml/2006/main" id="18" idx="0"/>
          </p:cNvCxnSpPr>
          <p:nvPr/>
        </p:nvCxnSpPr>
        <p:spPr>
          <a:xfrm xmlns:a="http://schemas.openxmlformats.org/drawingml/2006/main">
            <a:off x="3829050" y="10458450"/>
            <a:ext cx="0" cy="647700"/>
          </a:xfrm>
          <a:prstGeom xmlns:a="http://schemas.openxmlformats.org/drawingml/2006/main" prst="straightConnector1">
            <a:avLst/>
          </a:prstGeom>
          <a:ln xmlns:a="http://schemas.openxmlformats.org/drawingml/2006/main" w="19050">
            <a:solidFill>
              <a:srgbClr val="497469"/>
            </a:solidFill>
            <a:tailEnd type="arrow" w="med" len="med"/>
          </a:ln>
        </p:spPr>
      </p:cxnSp>
      <p:sp>
        <p:nvSpPr>
          <p:cNvPr id="22" name="">
            <a:extLst xmlns:a="http://schemas.openxmlformats.org/drawingml/2006/main">
              <a:ext uri="{FF2B5EF4-FFF2-40B4-BE49-F238E27FC236}">
                <a16:creationId xmlns:a16="http://schemas.microsoft.com/office/drawing/2014/main" id="{6AF98000-ECC7-47CC-800A-95350FA47904}"/>
              </a:ext>
            </a:extLst>
          </p:cNvPr>
          <p:cNvSpPr>
            <a:spLocks xmlns:a="http://schemas.openxmlformats.org/drawingml/2006/main" noGrp="1"/>
          </p:cNvSpPr>
          <p:nvPr/>
        </p:nvSpPr>
        <p:spPr>
          <a:xfrm xmlns:a="http://schemas.openxmlformats.org/drawingml/2006/main">
            <a:off x="609600" y="14287500"/>
            <a:ext cx="64389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0">
                <a:solidFill>
                  <a:srgbClr val="A7BCB6"/>
                </a:solidFill>
                <a:latin typeface="Helvetica Neue"/>
                <a:ea typeface="Helvetica Neue"/>
                <a:cs typeface="Helvetica Neue"/>
              </a:defRPr>
            </a:pPr>
            <a:r>
              <a:rPr sz="2175" b="0">
                <a:solidFill>
                  <a:srgbClr val="A7BCB6"/>
                </a:solidFill>
                <a:latin typeface="Helvetica Neue"/>
                <a:ea typeface="Helvetica Neue"/>
                <a:cs typeface="Helvetica Neue"/>
              </a:rPr>
              <a:t>Supabase Compute runs every step.</a:t>
            </a:r>
          </a:p>
          <a:p xmlns:a="http://schemas.openxmlformats.org/drawingml/2006/main">
            <a:pPr algn="ctr">
              <a:defRPr sz="2175" b="0">
                <a:solidFill>
                  <a:srgbClr val="A7BCB6"/>
                </a:solidFill>
                <a:latin typeface="Helvetica Neue"/>
                <a:ea typeface="Helvetica Neue"/>
                <a:cs typeface="Helvetica Neue"/>
              </a:defRPr>
            </a:pPr>
            <a:r>
              <a:rPr sz="2175" b="0">
                <a:solidFill>
                  <a:srgbClr val="A7BCB6"/>
                </a:solidFill>
                <a:latin typeface="Helvetica Neue"/>
                <a:ea typeface="Helvetica Neue"/>
                <a:cs typeface="Helvetica Neue"/>
              </a:rPr>
              <a:t>Postgres saves the job’s progress.</a:t>
            </a:r>
          </a:p>
        </p:txBody>
      </p:sp>
    </p:spTree>
    <p:extLst>
      <p:ext uri="{BB962C8B-B14F-4D97-AF65-F5344CB8AC3E}">
        <p14:creationId xmlns:p14="http://schemas.microsoft.com/office/powerpoint/2010/main" val="2038399339"/>
      </p:ext>
    </p:extLst>
  </p:cSld>
</p:sld>
</file>

<file path=ppt/slides/slide3.xml><?xml version="1.0" encoding="utf-8"?>
<p:sld xmlns:p="http://schemas.openxmlformats.org/presentationml/2006/main">
  <p:cSld>
    <p:bg>
      <p:bgPr>
        <a:solidFill xmlns:a="http://schemas.openxmlformats.org/drawingml/2006/main">
          <a:srgbClr val="060C15"/>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342ab212bce47e4"/>
          <a:srcRect xmlns:a="http://schemas.openxmlformats.org/drawingml/2006/main" l="172" t="0" r="172" b="0"/>
          <a:stretch xmlns:a="http://schemas.openxmlformats.org/drawingml/2006/main">
            <a:fillRect l="0" t="0" r="0" b="0"/>
          </a:stretch>
        </p:blipFill>
        <p:spPr>
          <a:xfrm xmlns:a="http://schemas.openxmlformats.org/drawingml/2006/main">
            <a:off x="0" y="0"/>
            <a:ext cx="7658100" cy="166497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DC69B33-5A3D-4A4C-B94C-37B177707660}"/>
              </a:ext>
            </a:extLst>
          </p:cNvPr>
          <p:cNvSpPr>
            <a:spLocks xmlns:a="http://schemas.openxmlformats.org/drawingml/2006/main" noGrp="1"/>
          </p:cNvSpPr>
          <p:nvPr/>
        </p:nvSpPr>
        <p:spPr>
          <a:xfrm xmlns:a="http://schemas.openxmlformats.org/drawingml/2006/main">
            <a:off x="571500" y="1428750"/>
            <a:ext cx="666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8400" b="1">
                <a:solidFill>
                  <a:srgbClr val="F1F6F4"/>
                </a:solidFill>
                <a:latin typeface="Helvetica Neue"/>
                <a:ea typeface="Helvetica Neue"/>
                <a:cs typeface="Helvetica Neue"/>
              </a:defRPr>
            </a:pPr>
            <a:r>
              <a:rPr sz="8400" b="1">
                <a:solidFill>
                  <a:srgbClr val="F1F6F4"/>
                </a:solidFill>
                <a:latin typeface="Helvetica Neue"/>
                <a:ea typeface="Helvetica Neue"/>
                <a:cs typeface="Helvetica Neue"/>
              </a:rPr>
              <a:t>Songbot</a:t>
            </a:r>
          </a:p>
        </p:txBody>
      </p:sp>
      <p:sp>
        <p:nvSpPr>
          <p:cNvPr id="3" name="">
            <a:extLst xmlns:a="http://schemas.openxmlformats.org/drawingml/2006/main">
              <a:ext uri="{FF2B5EF4-FFF2-40B4-BE49-F238E27FC236}">
                <a16:creationId xmlns:a16="http://schemas.microsoft.com/office/drawing/2014/main" id="{65E1DF6F-1406-45D4-8717-95FEE535CDFD}"/>
              </a:ext>
            </a:extLst>
          </p:cNvPr>
          <p:cNvSpPr>
            <a:spLocks xmlns:a="http://schemas.openxmlformats.org/drawingml/2006/main" noGrp="1"/>
          </p:cNvSpPr>
          <p:nvPr/>
        </p:nvSpPr>
        <p:spPr>
          <a:xfrm xmlns:a="http://schemas.openxmlformats.org/drawingml/2006/main">
            <a:off x="609600" y="3028950"/>
            <a:ext cx="64389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0">
                <a:solidFill>
                  <a:srgbClr val="F1F6F4"/>
                </a:solidFill>
                <a:latin typeface="Helvetica Neue"/>
                <a:ea typeface="Helvetica Neue"/>
                <a:cs typeface="Helvetica Neue"/>
              </a:defRPr>
            </a:pPr>
            <a:r>
              <a:rPr sz="3375" b="0">
                <a:solidFill>
                  <a:srgbClr val="F1F6F4"/>
                </a:solidFill>
                <a:latin typeface="Helvetica Neue"/>
                <a:ea typeface="Helvetica Neue"/>
                <a:cs typeface="Helvetica Neue"/>
              </a:rPr>
              <a:t>Thanks for listening.</a:t>
            </a:r>
          </a:p>
        </p:txBody>
      </p:sp>
      <p:sp>
        <p:nvSpPr>
          <p:cNvPr id="4" name="">
            <a:extLst xmlns:a="http://schemas.openxmlformats.org/drawingml/2006/main">
              <a:ext uri="{FF2B5EF4-FFF2-40B4-BE49-F238E27FC236}">
                <a16:creationId xmlns:a16="http://schemas.microsoft.com/office/drawing/2014/main" id="{38881F7C-D839-4CC9-9700-6B6C84621A3D}"/>
              </a:ext>
            </a:extLst>
          </p:cNvPr>
          <p:cNvSpPr>
            <a:spLocks xmlns:a="http://schemas.openxmlformats.org/drawingml/2006/main" noGrp="1"/>
          </p:cNvSpPr>
          <p:nvPr/>
        </p:nvSpPr>
        <p:spPr>
          <a:xfrm xmlns:a="http://schemas.openxmlformats.org/drawingml/2006/main">
            <a:off x="609600" y="13430250"/>
            <a:ext cx="6438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800" b="1">
                <a:solidFill>
                  <a:srgbClr val="81F3CA"/>
                </a:solidFill>
                <a:latin typeface="Helvetica Neue"/>
                <a:ea typeface="Helvetica Neue"/>
                <a:cs typeface="Helvetica Neue"/>
              </a:defRPr>
            </a:pPr>
            <a:r>
              <a:rPr sz="4800" b="1">
                <a:solidFill>
                  <a:srgbClr val="81F3CA"/>
                </a:solidFill>
                <a:latin typeface="Helvetica Neue"/>
                <a:ea typeface="Helvetica Neue"/>
                <a:cs typeface="Helvetica Neue"/>
              </a:rPr>
              <a:t>@Songbot</a:t>
            </a:r>
          </a:p>
        </p:txBody>
      </p:sp>
      <p:sp>
        <p:nvSpPr>
          <p:cNvPr id="5" name="">
            <a:extLst xmlns:a="http://schemas.openxmlformats.org/drawingml/2006/main">
              <a:ext uri="{FF2B5EF4-FFF2-40B4-BE49-F238E27FC236}">
                <a16:creationId xmlns:a16="http://schemas.microsoft.com/office/drawing/2014/main" id="{F3962473-CFE2-4488-BAB6-58FA1871859E}"/>
              </a:ext>
            </a:extLst>
          </p:cNvPr>
          <p:cNvSpPr>
            <a:spLocks xmlns:a="http://schemas.openxmlformats.org/drawingml/2006/main" noGrp="1"/>
          </p:cNvSpPr>
          <p:nvPr/>
        </p:nvSpPr>
        <p:spPr>
          <a:xfrm xmlns:a="http://schemas.openxmlformats.org/drawingml/2006/main">
            <a:off x="609600" y="14382750"/>
            <a:ext cx="64389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925" b="0">
                <a:solidFill>
                  <a:srgbClr val="F1F6F4"/>
                </a:solidFill>
                <a:latin typeface="Helvetica Neue"/>
                <a:ea typeface="Helvetica Neue"/>
                <a:cs typeface="Helvetica Neue"/>
              </a:defRPr>
            </a:pPr>
            <a:r>
              <a:rPr sz="2925" b="0">
                <a:solidFill>
                  <a:srgbClr val="F1F6F4"/>
                </a:solidFill>
                <a:latin typeface="Helvetica Neue"/>
                <a:ea typeface="Helvetica Neue"/>
                <a:cs typeface="Helvetica Neue"/>
              </a:rPr>
              <a:t>Make this thread a song.</a:t>
            </a:r>
          </a:p>
        </p:txBody>
      </p:sp>
    </p:spTree>
    <p:extLst>
      <p:ext uri="{BB962C8B-B14F-4D97-AF65-F5344CB8AC3E}">
        <p14:creationId xmlns:p14="http://schemas.microsoft.com/office/powerpoint/2010/main" val="20819673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2026-10-03T22:59:05.9600000Z</dcterms:created>
  <dcterms:modified xsi:type="dcterms:W3CDTF">2026-10-03T22:59:05.9600000Z</dcterms:modified>
</coreProperties>
</file>